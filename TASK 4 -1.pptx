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90" y="1054100"/>
            <a:ext cx="421132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400">
                <a:solidFill>
                  <a:srgbClr val="2C3E50"/>
                </a:solidFill>
                <a:latin typeface="Noto Sans"/>
              </a:rPr>
              <a:t>Pandas Data Analysis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330" y="7650480"/>
            <a:ext cx="3638550" cy="176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2980B9"/>
                </a:solidFill>
                <a:latin typeface="Noto Sans"/>
              </a:rPr>
              <a:t>1. Fundamental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90" y="8172450"/>
            <a:ext cx="611886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Pandas Series: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Think of this as a single column of data. It is a one-dimensional array-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" y="8370570"/>
            <a:ext cx="6120130" cy="207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like object that can hold any data type (integers, strings, floating point numbers,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8660130"/>
            <a:ext cx="413893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and has an associated array of data labels called an 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90" y="9056370"/>
            <a:ext cx="611886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DataFrames: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This is the "bread and butter" of Pandas. It is a two-dimensional, size-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90" y="9301480"/>
            <a:ext cx="61201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mutable, potentially heterogeneous tabular data structure with labeled axes (rows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" y="9545320"/>
            <a:ext cx="49822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and columns). Essentially, it's like an Excel spreadsheet or a SQL table.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507490"/>
            <a:ext cx="6120130" cy="19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7552690"/>
            <a:ext cx="46989" cy="36575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1729739"/>
            <a:ext cx="6139180" cy="55219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739900"/>
            <a:ext cx="6127750" cy="550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2330" y="6609080"/>
            <a:ext cx="36982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2980B9"/>
                </a:solidFill>
                <a:latin typeface="Noto Sans"/>
              </a:rPr>
              <a:t>2. Data Acquisition and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90" y="7132320"/>
            <a:ext cx="611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Reading CSV Files: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CSV (Comma Separated Values) is the most common format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90" y="7329170"/>
            <a:ext cx="6118860" cy="207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data science. Pandas uses the read_csv() function to load these files directly into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" y="7620000"/>
            <a:ext cx="42405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DataFrame, automatically handling headers and delimiters.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7969250"/>
            <a:ext cx="6120130" cy="207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Data Cleaning: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Raw data is often messy. This process involves fixing structural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90" y="8260080"/>
            <a:ext cx="61201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(like typos in column names), removing duplicates, and ensuring that data types are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90" y="8503920"/>
            <a:ext cx="611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correct (e.g., making sure a "Date" column is actually recognized as a date and not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" y="8751570"/>
            <a:ext cx="930910" cy="1485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just a string).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" y="9097010"/>
            <a:ext cx="6118860" cy="207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Handling Missing Values: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In real-world data, you often find "NaN" (Not a Number)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" y="9387840"/>
            <a:ext cx="262255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entries. You must decide whether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569" y="9825990"/>
            <a:ext cx="57150" cy="36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" y="9784080"/>
            <a:ext cx="34391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Drop them: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Remove the row or column entirely.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6511290"/>
            <a:ext cx="46989" cy="36575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720090"/>
            <a:ext cx="6139180" cy="549021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723900"/>
            <a:ext cx="6127750" cy="548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4569" y="826769"/>
            <a:ext cx="57150" cy="38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090" y="737870"/>
            <a:ext cx="569976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Fill them: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Replace the gap with a specific value, like the mean or median of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090" y="1028700"/>
            <a:ext cx="57657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column.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330" y="7522209"/>
            <a:ext cx="239649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2980B9"/>
                </a:solidFill>
                <a:latin typeface="Noto Sans"/>
              </a:rPr>
              <a:t>3. Data Manipulation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7998459"/>
            <a:ext cx="6118860" cy="207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Filtering Data: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This allows you to zoom in on specific parts of your dataset based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90" y="8289290"/>
            <a:ext cx="55486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conditions. For example, "Show me all rows where 'Sales' is greater than 500."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90" y="8685530"/>
            <a:ext cx="611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Sorting Data: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Organizing your table based on the values in one or more columns.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" y="8929370"/>
            <a:ext cx="56210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You can sort alphabetically, numerically, and in ascending or descending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" y="9325610"/>
            <a:ext cx="5469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Data Selection: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This involves "slicing" the data to get exactly what you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569" y="9763760"/>
            <a:ext cx="57150" cy="36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090" y="9720580"/>
            <a:ext cx="426212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.loc: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Used for selecting data by the label of the row/column.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7424420"/>
            <a:ext cx="46989" cy="36575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1493520"/>
            <a:ext cx="6139180" cy="562990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498600"/>
            <a:ext cx="6127750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4569" y="826769"/>
            <a:ext cx="57150" cy="38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090" y="784860"/>
            <a:ext cx="47434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.iloc: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Used for selecting data by the integer-based position (index).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90" y="1181100"/>
            <a:ext cx="611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Iterating Rows: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While usually discouraged for large datasets (because it’s slow), this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" y="1424940"/>
            <a:ext cx="611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involves looping through each row of the DataFrame one by one to perform custom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1668780"/>
            <a:ext cx="1456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logic or calculations.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330" y="2183130"/>
            <a:ext cx="25679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2980B9"/>
                </a:solidFill>
                <a:latin typeface="Noto Sans"/>
              </a:rPr>
              <a:t>4. Data Analysis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90" y="2706370"/>
            <a:ext cx="611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Descriptive Statistics: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Using simple commands to get a high-level overview of your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" y="2950210"/>
            <a:ext cx="454025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data, such as the mean, median, standard deviation, and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" y="3299460"/>
            <a:ext cx="612013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C3E50"/>
                </a:solidFill>
                <a:latin typeface="Noto Sans"/>
              </a:rPr>
              <a:t>Aggregation:</a:t>
            </a:r>
            <a:r>
              <a:rPr spc="-100" sz="1200">
                <a:solidFill>
                  <a:srgbClr val="333333"/>
                </a:solidFill>
                <a:latin typeface="Noto Sans"/>
              </a:rPr>
              <a:t> Grouping data together (e.g., "Group by City") to find the total or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" y="3543300"/>
            <a:ext cx="357124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333333"/>
                </a:solidFill>
                <a:latin typeface="Noto Sans"/>
              </a:rPr>
              <a:t>average of values within those specific categories.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085339"/>
            <a:ext cx="46989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